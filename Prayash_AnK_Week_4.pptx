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67" r:id="rId6"/>
    <p:sldId id="266" r:id="rId7"/>
    <p:sldId id="265" r:id="rId8"/>
    <p:sldId id="264" r:id="rId9"/>
    <p:sldId id="263" r:id="rId10"/>
    <p:sldId id="262" r:id="rId11"/>
    <p:sldId id="261" r:id="rId12"/>
    <p:sldId id="260" r:id="rId13"/>
    <p:sldId id="259" r:id="rId14"/>
    <p:sldId id="258" r:id="rId15"/>
    <p:sldId id="268" r:id="rId16"/>
  </p:sldIdLst>
  <p:sldSz cx="9144000" cy="51435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836f504e82_2_75:notes"/>
          <p:cNvSpPr txBox="1"/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127" name="Google Shape;127;g3836f504e82_2_75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and two columns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59" name="Google Shape;59;p14"/>
          <p:cNvSpPr txBox="1"/>
          <p:nvPr>
            <p:ph type="dt" idx="10"/>
          </p:nvPr>
        </p:nvSpPr>
        <p:spPr>
          <a:xfrm>
            <a:off x="628650" y="4767266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type="ftr" idx="11"/>
          </p:nvPr>
        </p:nvSpPr>
        <p:spPr>
          <a:xfrm>
            <a:off x="3028950" y="4767266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type="sldNum" idx="12"/>
          </p:nvPr>
        </p:nvSpPr>
        <p:spPr>
          <a:xfrm>
            <a:off x="6457950" y="4767266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bg>
      <p:bgPr>
        <a:blipFill>
          <a:blip r:embed="rId2">
            <a:alphaModFix amt="19000"/>
          </a:blip>
          <a:stretch>
            <a:fillRect/>
          </a:stretch>
        </a:blipFill>
        <a:effectLst/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type="title"/>
          </p:nvPr>
        </p:nvSpPr>
        <p:spPr>
          <a:xfrm>
            <a:off x="628650" y="273847"/>
            <a:ext cx="7886700" cy="9941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type="dt" idx="10"/>
          </p:nvPr>
        </p:nvSpPr>
        <p:spPr>
          <a:xfrm>
            <a:off x="628650" y="4767266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type="ftr" idx="11"/>
          </p:nvPr>
        </p:nvSpPr>
        <p:spPr>
          <a:xfrm>
            <a:off x="3028950" y="4767266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type="sldNum" idx="12"/>
          </p:nvPr>
        </p:nvSpPr>
        <p:spPr>
          <a:xfrm>
            <a:off x="6457950" y="4767266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623888" y="1282304"/>
            <a:ext cx="7886700" cy="17287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type="body" idx="1"/>
          </p:nvPr>
        </p:nvSpPr>
        <p:spPr>
          <a:xfrm>
            <a:off x="623888" y="3614738"/>
            <a:ext cx="7886700" cy="9525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500"/>
              <a:buNone/>
              <a:defRPr sz="15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400"/>
              <a:buNone/>
              <a:defRPr sz="14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71" name="Google Shape;71;p16"/>
          <p:cNvSpPr txBox="1"/>
          <p:nvPr>
            <p:ph type="dt" idx="10"/>
          </p:nvPr>
        </p:nvSpPr>
        <p:spPr>
          <a:xfrm>
            <a:off x="628650" y="4767266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type="ftr" idx="11"/>
          </p:nvPr>
        </p:nvSpPr>
        <p:spPr>
          <a:xfrm>
            <a:off x="3028950" y="4767266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type="sldNum" idx="12"/>
          </p:nvPr>
        </p:nvSpPr>
        <p:spPr>
          <a:xfrm>
            <a:off x="6457950" y="4767266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>
            <a:off x="628650" y="273847"/>
            <a:ext cx="7886700" cy="9941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type="dt" idx="10"/>
          </p:nvPr>
        </p:nvSpPr>
        <p:spPr>
          <a:xfrm>
            <a:off x="628650" y="4767266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type="ftr" idx="11"/>
          </p:nvPr>
        </p:nvSpPr>
        <p:spPr>
          <a:xfrm>
            <a:off x="3028950" y="4767266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type="sldNum" idx="12"/>
          </p:nvPr>
        </p:nvSpPr>
        <p:spPr>
          <a:xfrm>
            <a:off x="6457950" y="4767266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>
            <p:ph type="title"/>
          </p:nvPr>
        </p:nvSpPr>
        <p:spPr>
          <a:xfrm>
            <a:off x="629841" y="273847"/>
            <a:ext cx="7886700" cy="9941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type="body" idx="1"/>
          </p:nvPr>
        </p:nvSpPr>
        <p:spPr>
          <a:xfrm>
            <a:off x="629842" y="1260872"/>
            <a:ext cx="3868340" cy="61793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84" name="Google Shape;84;p18"/>
          <p:cNvSpPr txBox="1"/>
          <p:nvPr>
            <p:ph type="body" idx="2"/>
          </p:nvPr>
        </p:nvSpPr>
        <p:spPr>
          <a:xfrm>
            <a:off x="629842" y="1878806"/>
            <a:ext cx="3868340" cy="276344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5" name="Google Shape;85;p18"/>
          <p:cNvSpPr txBox="1"/>
          <p:nvPr>
            <p:ph type="body" idx="3"/>
          </p:nvPr>
        </p:nvSpPr>
        <p:spPr>
          <a:xfrm>
            <a:off x="4629152" y="1260872"/>
            <a:ext cx="3887391" cy="61793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86" name="Google Shape;86;p18"/>
          <p:cNvSpPr txBox="1"/>
          <p:nvPr>
            <p:ph type="body" idx="4"/>
          </p:nvPr>
        </p:nvSpPr>
        <p:spPr>
          <a:xfrm>
            <a:off x="4629152" y="1878806"/>
            <a:ext cx="3887391" cy="276344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7" name="Google Shape;87;p18"/>
          <p:cNvSpPr txBox="1"/>
          <p:nvPr>
            <p:ph type="dt" idx="10"/>
          </p:nvPr>
        </p:nvSpPr>
        <p:spPr>
          <a:xfrm>
            <a:off x="628650" y="4767266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8" name="Google Shape;88;p18"/>
          <p:cNvSpPr txBox="1"/>
          <p:nvPr>
            <p:ph type="ftr" idx="11"/>
          </p:nvPr>
        </p:nvSpPr>
        <p:spPr>
          <a:xfrm>
            <a:off x="3028950" y="4767266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9" name="Google Shape;89;p18"/>
          <p:cNvSpPr txBox="1"/>
          <p:nvPr>
            <p:ph type="sldNum" idx="12"/>
          </p:nvPr>
        </p:nvSpPr>
        <p:spPr>
          <a:xfrm>
            <a:off x="6457950" y="4767266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628650" y="273847"/>
            <a:ext cx="7886700" cy="9941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type="dt" idx="10"/>
          </p:nvPr>
        </p:nvSpPr>
        <p:spPr>
          <a:xfrm>
            <a:off x="628650" y="4767266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type="ftr" idx="11"/>
          </p:nvPr>
        </p:nvSpPr>
        <p:spPr>
          <a:xfrm>
            <a:off x="3028950" y="4767266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" name="Google Shape;94;p19"/>
          <p:cNvSpPr txBox="1"/>
          <p:nvPr>
            <p:ph type="sldNum" idx="12"/>
          </p:nvPr>
        </p:nvSpPr>
        <p:spPr>
          <a:xfrm>
            <a:off x="6457950" y="4767266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dt" idx="10"/>
          </p:nvPr>
        </p:nvSpPr>
        <p:spPr>
          <a:xfrm>
            <a:off x="628650" y="4767266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type="ftr" idx="11"/>
          </p:nvPr>
        </p:nvSpPr>
        <p:spPr>
          <a:xfrm>
            <a:off x="3028950" y="4767266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type="sldNum" idx="12"/>
          </p:nvPr>
        </p:nvSpPr>
        <p:spPr>
          <a:xfrm>
            <a:off x="6457950" y="4767266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type="body" idx="1"/>
          </p:nvPr>
        </p:nvSpPr>
        <p:spPr>
          <a:xfrm>
            <a:off x="3887391" y="740572"/>
            <a:ext cx="4629150" cy="365521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2" name="Google Shape;102;p21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03" name="Google Shape;103;p21"/>
          <p:cNvSpPr txBox="1"/>
          <p:nvPr>
            <p:ph type="dt" idx="10"/>
          </p:nvPr>
        </p:nvSpPr>
        <p:spPr>
          <a:xfrm>
            <a:off x="628650" y="4767266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type="ftr" idx="11"/>
          </p:nvPr>
        </p:nvSpPr>
        <p:spPr>
          <a:xfrm>
            <a:off x="3028950" y="4767266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type="sldNum" idx="12"/>
          </p:nvPr>
        </p:nvSpPr>
        <p:spPr>
          <a:xfrm>
            <a:off x="6457950" y="4767266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type="pic" idx="2"/>
          </p:nvPr>
        </p:nvSpPr>
        <p:spPr>
          <a:xfrm>
            <a:off x="3887391" y="740572"/>
            <a:ext cx="4629150" cy="3655219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09" name="Google Shape;109;p22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10" name="Google Shape;110;p22"/>
          <p:cNvSpPr txBox="1"/>
          <p:nvPr>
            <p:ph type="dt" idx="10"/>
          </p:nvPr>
        </p:nvSpPr>
        <p:spPr>
          <a:xfrm>
            <a:off x="628650" y="4767266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type="ftr" idx="11"/>
          </p:nvPr>
        </p:nvSpPr>
        <p:spPr>
          <a:xfrm>
            <a:off x="3028950" y="4767266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type="sldNum" idx="12"/>
          </p:nvPr>
        </p:nvSpPr>
        <p:spPr>
          <a:xfrm>
            <a:off x="6457950" y="4767266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628650" y="273847"/>
            <a:ext cx="7886700" cy="9941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type="dt" idx="10"/>
          </p:nvPr>
        </p:nvSpPr>
        <p:spPr>
          <a:xfrm>
            <a:off x="628650" y="4767266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type="ftr" idx="11"/>
          </p:nvPr>
        </p:nvSpPr>
        <p:spPr>
          <a:xfrm>
            <a:off x="3028950" y="4767266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type="sldNum" idx="12"/>
          </p:nvPr>
        </p:nvSpPr>
        <p:spPr>
          <a:xfrm>
            <a:off x="6457950" y="4767266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5350075" y="1467445"/>
            <a:ext cx="4358879" cy="197167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type="body" idx="1"/>
          </p:nvPr>
        </p:nvSpPr>
        <p:spPr>
          <a:xfrm rot="5400000">
            <a:off x="1349575" y="-447080"/>
            <a:ext cx="4358879" cy="580072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type="dt" idx="10"/>
          </p:nvPr>
        </p:nvSpPr>
        <p:spPr>
          <a:xfrm>
            <a:off x="628650" y="4767266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type="ftr" idx="11"/>
          </p:nvPr>
        </p:nvSpPr>
        <p:spPr>
          <a:xfrm>
            <a:off x="3028950" y="4767266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type="sldNum" idx="12"/>
          </p:nvPr>
        </p:nvSpPr>
        <p:spPr>
          <a:xfrm>
            <a:off x="6457950" y="4767266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3" Type="http://schemas.openxmlformats.org/officeDocument/2006/relationships/theme" Target="../theme/theme2.xml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2">
            <a:alphaModFix amt="19000"/>
          </a:blip>
          <a:stretch>
            <a:fillRect/>
          </a:stretch>
        </a:blipFill>
        <a:effectLst/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7"/>
            <a:ext cx="7886700" cy="9941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type="dt" idx="10"/>
          </p:nvPr>
        </p:nvSpPr>
        <p:spPr>
          <a:xfrm>
            <a:off x="628650" y="4767266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  <a:defRPr sz="9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type="ftr" idx="11"/>
          </p:nvPr>
        </p:nvSpPr>
        <p:spPr>
          <a:xfrm>
            <a:off x="3028950" y="4767266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  <a:defRPr sz="9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type="sldNum" idx="12"/>
          </p:nvPr>
        </p:nvSpPr>
        <p:spPr>
          <a:xfrm>
            <a:off x="6457950" y="4767266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>
            <p:ph type="ctrTitle"/>
          </p:nvPr>
        </p:nvSpPr>
        <p:spPr>
          <a:xfrm>
            <a:off x="448623" y="118970"/>
            <a:ext cx="8493975" cy="145125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</a:pPr>
            <a:r>
              <a:rPr lang="en-US" sz="4100"/>
              <a:t>MedicalNet </a:t>
            </a:r>
            <a:endParaRPr lang="en-US" sz="4100"/>
          </a:p>
        </p:txBody>
      </p:sp>
      <p:sp>
        <p:nvSpPr>
          <p:cNvPr id="130" name="Google Shape;130;p25"/>
          <p:cNvSpPr txBox="1"/>
          <p:nvPr>
            <p:ph type="subTitle" idx="1"/>
          </p:nvPr>
        </p:nvSpPr>
        <p:spPr>
          <a:xfrm>
            <a:off x="448310" y="2209800"/>
            <a:ext cx="8495030" cy="308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28575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/>
              <a:t>It is a deep learning project for medical image segmentation.</a:t>
            </a:r>
            <a:endParaRPr lang="en-US"/>
          </a:p>
          <a:p>
            <a:pPr marL="28575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endParaRPr lang="en-US"/>
          </a:p>
          <a:p>
            <a:pPr marL="28575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/>
              <a:t>The goal was to train the model, evaluate its performance and visualize its predictions.</a:t>
            </a:r>
            <a:endParaRPr lang="en-US"/>
          </a:p>
          <a:p>
            <a:pPr marL="28575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endParaRPr lang="en-US"/>
          </a:p>
          <a:p>
            <a:pPr marL="28575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/>
              <a:t>We systematically debugged and improved the entire pipeline from data handling and training to visualization and logging.</a:t>
            </a:r>
            <a:endParaRPr lang="en-US"/>
          </a:p>
          <a:p>
            <a:pPr marL="28575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endParaRPr lang="en-US"/>
          </a:p>
          <a:p>
            <a:pPr marL="28575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endParaRPr lang="en-US"/>
          </a:p>
        </p:txBody>
      </p:sp>
      <p:sp>
        <p:nvSpPr>
          <p:cNvPr id="131" name="Google Shape;131;p25"/>
          <p:cNvSpPr txBox="1"/>
          <p:nvPr>
            <p:ph type="dt" idx="10"/>
          </p:nvPr>
        </p:nvSpPr>
        <p:spPr>
          <a:xfrm>
            <a:off x="628650" y="4767266"/>
            <a:ext cx="2057400" cy="27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/>
              <a:t>10/16/2025</a:t>
            </a:r>
            <a:endParaRPr lang="en-GB"/>
          </a:p>
        </p:txBody>
      </p:sp>
      <p:sp>
        <p:nvSpPr>
          <p:cNvPr id="132" name="Google Shape;132;p25"/>
          <p:cNvSpPr txBox="1"/>
          <p:nvPr>
            <p:ph type="ftr" idx="11"/>
          </p:nvPr>
        </p:nvSpPr>
        <p:spPr>
          <a:xfrm>
            <a:off x="3028950" y="4767266"/>
            <a:ext cx="3086100" cy="27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>
                <a:solidFill>
                  <a:srgbClr val="7F7F7F"/>
                </a:solidFill>
              </a:rPr>
              <a:t>Copyright © AnK Pvt. Ltd. All Rights Reserved.</a:t>
            </a:r>
            <a:endParaRPr>
              <a:solidFill>
                <a:srgbClr val="7F7F7F"/>
              </a:solidFill>
            </a:endParaRPr>
          </a:p>
        </p:txBody>
      </p:sp>
      <p:sp>
        <p:nvSpPr>
          <p:cNvPr id="133" name="Google Shape;133;p25"/>
          <p:cNvSpPr txBox="1"/>
          <p:nvPr>
            <p:ph type="sldNum" idx="12"/>
          </p:nvPr>
        </p:nvSpPr>
        <p:spPr>
          <a:xfrm>
            <a:off x="6457950" y="4767266"/>
            <a:ext cx="2057400" cy="27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1" name="Text Box 0"/>
          <p:cNvSpPr txBox="1"/>
          <p:nvPr/>
        </p:nvSpPr>
        <p:spPr>
          <a:xfrm>
            <a:off x="0" y="0"/>
            <a:ext cx="184467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latin typeface="Blackadder ITC" panose="04020505051007020D02" charset="0"/>
                <a:cs typeface="Blackadder ITC" panose="04020505051007020D02" charset="0"/>
              </a:rPr>
              <a:t>078bme031.prayash</a:t>
            </a:r>
            <a:endParaRPr lang="en-US">
              <a:latin typeface="Blackadder ITC" panose="04020505051007020D02" charset="0"/>
              <a:cs typeface="Blackadder ITC" panose="04020505051007020D02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>
          <a:xfrm>
            <a:off x="628650" y="173517"/>
            <a:ext cx="7886700" cy="994172"/>
          </a:xfrm>
        </p:spPr>
        <p:txBody>
          <a:bodyPr/>
          <a:p>
            <a:pPr algn="ctr"/>
            <a:r>
              <a:rPr lang="en-US"/>
              <a:t>Training Crash</a:t>
            </a:r>
            <a:endParaRPr lang="en-US"/>
          </a:p>
        </p:txBody>
      </p:sp>
      <p:sp>
        <p:nvSpPr>
          <p:cNvPr id="3" name="Text Placeholder 2"/>
          <p:cNvSpPr/>
          <p:nvPr>
            <p:ph type="body" idx="1"/>
          </p:nvPr>
        </p:nvSpPr>
        <p:spPr>
          <a:xfrm>
            <a:off x="628650" y="1167765"/>
            <a:ext cx="7886700" cy="3688080"/>
          </a:xfrm>
        </p:spPr>
        <p:txBody>
          <a:bodyPr>
            <a:normAutofit lnSpcReduction="10000"/>
          </a:bodyPr>
          <a:p>
            <a:r>
              <a:rPr lang="en-US"/>
              <a:t>Executed train.py to begin training the model segmentation.</a:t>
            </a:r>
            <a:endParaRPr lang="en-US"/>
          </a:p>
          <a:p>
            <a:endParaRPr lang="en-US"/>
          </a:p>
          <a:p>
            <a:r>
              <a:rPr lang="en-US"/>
              <a:t>The script crashed during the first validation script.</a:t>
            </a:r>
            <a:endParaRPr lang="en-US"/>
          </a:p>
          <a:p>
            <a:endParaRPr lang="en-US"/>
          </a:p>
          <a:p>
            <a:r>
              <a:rPr lang="en-US"/>
              <a:t>The ground truth labels used for the validation were not being resized to match the model’s output dimension causing shape mismatch inside seg_eval function.</a:t>
            </a:r>
            <a:endParaRPr lang="en-US"/>
          </a:p>
          <a:p>
            <a:endParaRPr lang="en-US"/>
          </a:p>
          <a:p>
            <a:r>
              <a:rPr lang="en-US"/>
              <a:t>This was fixed by adding code to train.py to correctly resize the validation labels allowing the training and validation process to complete successfully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/>
          <a:p>
            <a:pPr algn="ctr"/>
            <a:r>
              <a:rPr lang="en-US"/>
              <a:t>Generating Visualizations</a:t>
            </a:r>
            <a:endParaRPr lang="en-US"/>
          </a:p>
        </p:txBody>
      </p:sp>
      <p:sp>
        <p:nvSpPr>
          <p:cNvPr id="3" name="Text Placeholder 2"/>
          <p:cNvSpPr/>
          <p:nvPr>
            <p:ph type="body" idx="1"/>
          </p:nvPr>
        </p:nvSpPr>
        <p:spPr>
          <a:xfrm>
            <a:off x="628650" y="1369060"/>
            <a:ext cx="7886700" cy="3665220"/>
          </a:xfrm>
        </p:spPr>
        <p:txBody>
          <a:bodyPr>
            <a:normAutofit lnSpcReduction="10000"/>
          </a:bodyPr>
          <a:p>
            <a:r>
              <a:rPr lang="en-US"/>
              <a:t>With a trained model in 10 epochs and 3 batch for each epoch, the result was visualized with necessary arguments.</a:t>
            </a:r>
            <a:endParaRPr lang="en-US"/>
          </a:p>
          <a:p>
            <a:endParaRPr lang="en-US"/>
          </a:p>
          <a:p>
            <a:r>
              <a:rPr lang="en-US"/>
              <a:t>An image showing side by side comparison of original scan, the ground truth and the model’s prediction was generated successfully.</a:t>
            </a:r>
            <a:endParaRPr lang="en-US"/>
          </a:p>
          <a:p>
            <a:endParaRPr lang="en-US"/>
          </a:p>
          <a:p>
            <a:r>
              <a:rPr lang="en-US"/>
              <a:t>Also, graphs depicting average loss vs epoch, learning rate plot and validation dice plot with an excel sheet of training log was generated.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Text Placeholder 2"/>
          <p:cNvSpPr/>
          <p:nvPr>
            <p:ph type="body" idx="1"/>
          </p:nvPr>
        </p:nvSpPr>
        <p:spPr>
          <a:xfrm>
            <a:off x="0" y="2286635"/>
            <a:ext cx="9143365" cy="3101975"/>
          </a:xfrm>
        </p:spPr>
        <p:txBody>
          <a:bodyPr>
            <a:normAutofit lnSpcReduction="20000"/>
          </a:bodyPr>
          <a:p>
            <a:r>
              <a:rPr lang="en-US"/>
              <a:t>The first one is the original image which is the raw input slice from the medical scan.</a:t>
            </a:r>
            <a:endParaRPr lang="en-US"/>
          </a:p>
          <a:p>
            <a:r>
              <a:rPr lang="en-US"/>
              <a:t>The second one is the ground truth label which is the correct segmentation provided in the the dataset. Model tries to replicate it.</a:t>
            </a:r>
            <a:endParaRPr lang="en-US"/>
          </a:p>
          <a:p>
            <a:r>
              <a:rPr lang="en-US"/>
              <a:t>The third one is the model prediction which is the segmentation mask generated by the model. Model’s best attempt at identifying target region.</a:t>
            </a:r>
            <a:endParaRPr lang="en-US"/>
          </a:p>
          <a:p>
            <a:r>
              <a:rPr lang="en-US"/>
              <a:t>The last one is the prediction overlay. It shows model’s prediction laid on top of original image. We can judge how well the prediction aligns with actual anatomy.</a:t>
            </a:r>
            <a:endParaRPr lang="en-US"/>
          </a:p>
        </p:txBody>
      </p:sp>
      <p:pic>
        <p:nvPicPr>
          <p:cNvPr id="4" name="Picture 3" descr="segmentation_visualizatio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 Placeholder 2"/>
          <p:cNvSpPr/>
          <p:nvPr>
            <p:ph type="body" idx="1"/>
          </p:nvPr>
        </p:nvSpPr>
        <p:spPr>
          <a:xfrm>
            <a:off x="186055" y="174625"/>
            <a:ext cx="8827135" cy="4789170"/>
          </a:xfrm>
        </p:spPr>
        <p:txBody>
          <a:bodyPr/>
          <a:p>
            <a:r>
              <a:rPr lang="en-US" altLang="en-US"/>
              <a:t>The model demonstrates excellent performance on slice 63. 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The predicted segmentation shows a good overlap with the ground truth.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 With clean boundaries and minimal false positives or negatives. 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This visual result is consistent with the high validation Dice score achieved during training.</a:t>
            </a:r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Text Placeholder 2"/>
          <p:cNvSpPr/>
          <p:nvPr>
            <p:ph type="body" idx="1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val_dice_vs_epoch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 Placeholder 2"/>
          <p:cNvSpPr/>
          <p:nvPr>
            <p:ph type="body" idx="1"/>
          </p:nvPr>
        </p:nvSpPr>
        <p:spPr>
          <a:xfrm>
            <a:off x="628650" y="172720"/>
            <a:ext cx="7886700" cy="4895850"/>
          </a:xfrm>
        </p:spPr>
        <p:txBody>
          <a:bodyPr/>
          <a:p>
            <a:r>
              <a:rPr lang="en-US" altLang="en-US"/>
              <a:t>The "Validation Dice Score per Epoch" graph plots the model's segmentation accuracy on the validation dataset at the end of each training epoch.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The Dice Score is a metric that measures how well the model's predicted segmentation overlaps with the ground truth label.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Score of 1.0 is perfect match and score of 0.0 is no overlap.</a:t>
            </a:r>
            <a:endParaRPr lang="en-US" altLang="en-US"/>
          </a:p>
          <a:p>
            <a:r>
              <a:rPr lang="en-US" altLang="en-US"/>
              <a:t>The upward trend means that with each epoch, the model is getting better at segmenting the target anatomy on unseen data. It is successfully learning generalizable features.</a:t>
            </a:r>
            <a:endParaRPr lang="en-US" altLang="en-US"/>
          </a:p>
          <a:p>
            <a:r>
              <a:rPr lang="en-US" altLang="en-US"/>
              <a:t>The validation dice score obtained at the end of training was 78.24%.</a:t>
            </a:r>
            <a:endParaRPr lang="en-US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Text Placeholder 2"/>
          <p:cNvSpPr/>
          <p:nvPr>
            <p:ph type="body" idx="1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avg_loss_vs_epoch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82880"/>
            <a:ext cx="9144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 Placeholder 2"/>
          <p:cNvSpPr/>
          <p:nvPr>
            <p:ph type="body" idx="1"/>
          </p:nvPr>
        </p:nvSpPr>
        <p:spPr>
          <a:xfrm>
            <a:off x="219710" y="207645"/>
            <a:ext cx="8715375" cy="4669790"/>
          </a:xfrm>
        </p:spPr>
        <p:txBody>
          <a:bodyPr>
            <a:normAutofit lnSpcReduction="20000"/>
          </a:bodyPr>
          <a:p>
            <a:r>
              <a:rPr lang="en-US"/>
              <a:t>From the graph, we can see that the average loss is decreasing with each successive epoch. This indicates that the model is successfully learning. </a:t>
            </a:r>
            <a:endParaRPr lang="en-US"/>
          </a:p>
          <a:p>
            <a:endParaRPr lang="en-US"/>
          </a:p>
          <a:p>
            <a:r>
              <a:rPr lang="en-US"/>
              <a:t>With each epoch, the model adjusts its weights to reduce the error or loss.</a:t>
            </a:r>
            <a:endParaRPr lang="en-US"/>
          </a:p>
          <a:p>
            <a:endParaRPr lang="en-US"/>
          </a:p>
          <a:p>
            <a:r>
              <a:rPr lang="en-US"/>
              <a:t>This shows that the optimization process is working correctly.</a:t>
            </a:r>
            <a:endParaRPr lang="en-US"/>
          </a:p>
          <a:p>
            <a:endParaRPr lang="en-US"/>
          </a:p>
          <a:p>
            <a:r>
              <a:rPr lang="en-US" altLang="en-US"/>
              <a:t>The model is getting progressively better at mapping the input images to the correct segmentation masks for the data in the training set.</a:t>
            </a:r>
            <a:endParaRPr lang="en-US" altLang="en-US"/>
          </a:p>
          <a:p>
            <a:endParaRPr lang="en-US" altLang="en-US"/>
          </a:p>
          <a:p>
            <a:r>
              <a:rPr lang="en-US"/>
              <a:t>It is learning to generalize its knowledge to new, unseen data.</a:t>
            </a:r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Text Placeholder 2"/>
          <p:cNvSpPr/>
          <p:nvPr>
            <p:ph type="body" idx="1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learning_rate_plo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 Placeholder 2"/>
          <p:cNvSpPr/>
          <p:nvPr>
            <p:ph type="body" idx="1"/>
          </p:nvPr>
        </p:nvSpPr>
        <p:spPr>
          <a:xfrm>
            <a:off x="0" y="0"/>
            <a:ext cx="9286875" cy="5143500"/>
          </a:xfrm>
        </p:spPr>
        <p:txBody>
          <a:bodyPr/>
          <a:p>
            <a:r>
              <a:rPr lang="en-US" altLang="en-US"/>
              <a:t>The graph is a downward sloping line, showing the learning rate decreasing with each epoch.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It is the "step size" the optimizer takes when updating the model's weights. A higher learning rate means bigger updates, and a lower learning rate means smaller, more precise updates.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Although the decay is technically exponential, over small number of epoch (10), the exponential curve looks like a straight line. 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We start with a higher learning rate for rapid initial progress and gradually reduce it to allow the model to fine tune its weights and converge to a more stable and accurate solution. </a:t>
            </a:r>
            <a:endParaRPr lang="en-US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 Placeholder 2"/>
          <p:cNvSpPr/>
          <p:nvPr>
            <p:ph type="body" idx="1"/>
          </p:nvPr>
        </p:nvSpPr>
        <p:spPr/>
        <p:txBody>
          <a:bodyPr>
            <a:noAutofit/>
          </a:bodyPr>
          <a:p>
            <a:pPr algn="ctr"/>
            <a:r>
              <a:rPr lang="en-US" sz="11500"/>
              <a:t>THANK YOU</a:t>
            </a:r>
            <a:endParaRPr lang="en-US" sz="11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3664</Words>
  <Application>WPS Presentation</Application>
  <PresentationFormat/>
  <Paragraphs>78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12</vt:i4>
      </vt:variant>
    </vt:vector>
  </HeadingPairs>
  <TitlesOfParts>
    <vt:vector size="45" baseType="lpstr">
      <vt:lpstr>Arial</vt:lpstr>
      <vt:lpstr>SimSun</vt:lpstr>
      <vt:lpstr>Wingdings</vt:lpstr>
      <vt:lpstr>Arial</vt:lpstr>
      <vt:lpstr>Microsoft YaHei</vt:lpstr>
      <vt:lpstr>Arial Unicode MS</vt:lpstr>
      <vt:lpstr>Algerian</vt:lpstr>
      <vt:lpstr>Bahnschrift Light SemiCondensed</vt:lpstr>
      <vt:lpstr>Bahnschrift Light Condensed</vt:lpstr>
      <vt:lpstr>Bahnschrift</vt:lpstr>
      <vt:lpstr>Agency FB</vt:lpstr>
      <vt:lpstr>Aparajita</vt:lpstr>
      <vt:lpstr>Arial Black</vt:lpstr>
      <vt:lpstr>Arial Narrow</vt:lpstr>
      <vt:lpstr>Arial Rounded MT Bold</vt:lpstr>
      <vt:lpstr>Bahnschrift Condensed</vt:lpstr>
      <vt:lpstr>Bahnschrift Light</vt:lpstr>
      <vt:lpstr>Bahnschrift SemiBold</vt:lpstr>
      <vt:lpstr>Bahnschrift SemiBold Condensed</vt:lpstr>
      <vt:lpstr>Bahnschrift SemiBold SemiCondensed</vt:lpstr>
      <vt:lpstr>Bahnschrift SemiCondensed</vt:lpstr>
      <vt:lpstr>Bahnschrift SemiLight</vt:lpstr>
      <vt:lpstr>Bahnschrift SemiLight Condensed</vt:lpstr>
      <vt:lpstr>Bahnschrift SemiLight SemiCondensed</vt:lpstr>
      <vt:lpstr>Baskerville Old Face</vt:lpstr>
      <vt:lpstr>Berlin Sans FB</vt:lpstr>
      <vt:lpstr>Berlin Sans FB Demi</vt:lpstr>
      <vt:lpstr>Bell MT</vt:lpstr>
      <vt:lpstr>Bernard MT Condensed</vt:lpstr>
      <vt:lpstr>Blackadder ITC</vt:lpstr>
      <vt:lpstr>Bodoni MT</vt:lpstr>
      <vt:lpstr>Simple Light</vt:lpstr>
      <vt:lpstr>Office Theme</vt:lpstr>
      <vt:lpstr>MedicalNet </vt:lpstr>
      <vt:lpstr>Training Crash</vt:lpstr>
      <vt:lpstr>Generating Visualizations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MedicalNet </dc:title>
  <dc:creator/>
  <cp:lastModifiedBy>PRAYASH PHUYAL</cp:lastModifiedBy>
  <cp:revision>5</cp:revision>
  <dcterms:created xsi:type="dcterms:W3CDTF">2025-12-04T08:30:00Z</dcterms:created>
  <dcterms:modified xsi:type="dcterms:W3CDTF">2025-12-04T10:54:22Z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8881BCFF01CE41E2821C6136E6FB81E3_13</vt:lpwstr>
  </property>
  <property fmtid="{D5CDD505-2E9C-101B-9397-08002B2CF9AE}" pid="3" name="KSOProductBuildVer">
    <vt:lpwstr>1033-12.2.0.23155</vt:lpwstr>
  </property>
</Properties>
</file>